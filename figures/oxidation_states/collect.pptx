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0D"/>
    <a:srgbClr val="2AA02C"/>
    <a:srgbClr val="E377C3"/>
    <a:srgbClr val="9467BE"/>
    <a:srgbClr val="8C564B"/>
    <a:srgbClr val="F9DC3D"/>
    <a:srgbClr val="1B85F3"/>
    <a:srgbClr val="F94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77"/>
    <p:restoredTop sz="94633"/>
  </p:normalViewPr>
  <p:slideViewPr>
    <p:cSldViewPr snapToGrid="0">
      <p:cViewPr>
        <p:scale>
          <a:sx n="160" d="100"/>
          <a:sy n="160" d="100"/>
        </p:scale>
        <p:origin x="14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032B5A-7AD8-E785-65E3-C6AA5B01EC09}"/>
              </a:ext>
            </a:extLst>
          </p:cNvPr>
          <p:cNvGrpSpPr/>
          <p:nvPr/>
        </p:nvGrpSpPr>
        <p:grpSpPr>
          <a:xfrm>
            <a:off x="266218" y="944021"/>
            <a:ext cx="6277412" cy="3366778"/>
            <a:chOff x="266218" y="944021"/>
            <a:chExt cx="6277412" cy="336677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B3E087E-3144-452D-7B18-564F77280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733" y="1128687"/>
              <a:ext cx="3009066" cy="317762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66565A-4232-8EA7-00F1-EDCC07F58E38}"/>
                </a:ext>
              </a:extLst>
            </p:cNvPr>
            <p:cNvSpPr txBox="1"/>
            <p:nvPr/>
          </p:nvSpPr>
          <p:spPr>
            <a:xfrm>
              <a:off x="266218" y="944021"/>
              <a:ext cx="492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5A0A50C-0250-3EF4-A4FA-65BF9C0FC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530314" y="1128687"/>
              <a:ext cx="3013316" cy="318211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5D4A41-EC9F-2A06-B8C3-B698E78AC8CF}"/>
                </a:ext>
              </a:extLst>
            </p:cNvPr>
            <p:cNvSpPr txBox="1"/>
            <p:nvPr/>
          </p:nvSpPr>
          <p:spPr>
            <a:xfrm>
              <a:off x="3449099" y="944021"/>
              <a:ext cx="492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9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59AA22F0-F865-536C-56D6-802B5A492834}"/>
              </a:ext>
            </a:extLst>
          </p:cNvPr>
          <p:cNvGrpSpPr/>
          <p:nvPr/>
        </p:nvGrpSpPr>
        <p:grpSpPr>
          <a:xfrm>
            <a:off x="930756" y="543480"/>
            <a:ext cx="5073629" cy="6875362"/>
            <a:chOff x="930756" y="543480"/>
            <a:chExt cx="5073629" cy="6875362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3DE835E3-14A3-C778-BA53-A3392B345C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1024" y="1203237"/>
              <a:ext cx="0" cy="48161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7BC3B63-322D-7D45-F7BB-0DC32E6A34C7}"/>
                </a:ext>
              </a:extLst>
            </p:cNvPr>
            <p:cNvSpPr txBox="1"/>
            <p:nvPr/>
          </p:nvSpPr>
          <p:spPr>
            <a:xfrm>
              <a:off x="1961187" y="1122214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031213E-90D2-9693-5308-16C969790211}"/>
                </a:ext>
              </a:extLst>
            </p:cNvPr>
            <p:cNvCxnSpPr>
              <a:cxnSpLocks/>
            </p:cNvCxnSpPr>
            <p:nvPr/>
          </p:nvCxnSpPr>
          <p:spPr>
            <a:xfrm>
              <a:off x="1451900" y="2429227"/>
              <a:ext cx="4085863" cy="9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D30EBCB8-736E-2276-0FB3-5C34325A60BE}"/>
                </a:ext>
              </a:extLst>
            </p:cNvPr>
            <p:cNvSpPr/>
            <p:nvPr/>
          </p:nvSpPr>
          <p:spPr>
            <a:xfrm rot="5400000">
              <a:off x="1486623" y="277262"/>
              <a:ext cx="1851947" cy="2384384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748E00-180D-4CBF-2AEE-13CA234D8182}"/>
                </a:ext>
              </a:extLst>
            </p:cNvPr>
            <p:cNvSpPr txBox="1"/>
            <p:nvPr/>
          </p:nvSpPr>
          <p:spPr>
            <a:xfrm>
              <a:off x="3546920" y="1758822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633A9F-C7B4-82AC-D97E-0218F9CF949C}"/>
                </a:ext>
              </a:extLst>
            </p:cNvPr>
            <p:cNvSpPr/>
            <p:nvPr/>
          </p:nvSpPr>
          <p:spPr>
            <a:xfrm>
              <a:off x="2412596" y="2755303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rgbClr val="8C564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B474B8-224C-FF61-206B-1EDC6B767252}"/>
                </a:ext>
              </a:extLst>
            </p:cNvPr>
            <p:cNvSpPr txBox="1"/>
            <p:nvPr/>
          </p:nvSpPr>
          <p:spPr>
            <a:xfrm>
              <a:off x="4712221" y="2716510"/>
              <a:ext cx="5700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Ti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840675-0CC2-7572-F12F-9A373DD51230}"/>
                </a:ext>
              </a:extLst>
            </p:cNvPr>
            <p:cNvSpPr/>
            <p:nvPr/>
          </p:nvSpPr>
          <p:spPr>
            <a:xfrm>
              <a:off x="2412602" y="3415060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rgbClr val="9467B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0A70F8-DD57-2AE6-AB44-6B7D895C194B}"/>
                </a:ext>
              </a:extLst>
            </p:cNvPr>
            <p:cNvSpPr txBox="1"/>
            <p:nvPr/>
          </p:nvSpPr>
          <p:spPr>
            <a:xfrm>
              <a:off x="4727532" y="3381129"/>
              <a:ext cx="66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Mn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074BB29-C677-BE49-24A5-CF68A9EA8ACC}"/>
                </a:ext>
              </a:extLst>
            </p:cNvPr>
            <p:cNvSpPr/>
            <p:nvPr/>
          </p:nvSpPr>
          <p:spPr>
            <a:xfrm>
              <a:off x="2412602" y="4056395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rgbClr val="E377C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372130-5143-6EDB-1FDD-8FD6672E583E}"/>
                </a:ext>
              </a:extLst>
            </p:cNvPr>
            <p:cNvSpPr txBox="1"/>
            <p:nvPr/>
          </p:nvSpPr>
          <p:spPr>
            <a:xfrm>
              <a:off x="4727532" y="4022464"/>
              <a:ext cx="6431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8B3DA4D-5C00-BFAB-96D2-3EEA25AB741D}"/>
                </a:ext>
              </a:extLst>
            </p:cNvPr>
            <p:cNvSpPr/>
            <p:nvPr/>
          </p:nvSpPr>
          <p:spPr>
            <a:xfrm>
              <a:off x="2412602" y="4415741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rgbClr val="2AA0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690952-E168-018F-112D-8B093A62B990}"/>
                </a:ext>
              </a:extLst>
            </p:cNvPr>
            <p:cNvSpPr txBox="1"/>
            <p:nvPr/>
          </p:nvSpPr>
          <p:spPr>
            <a:xfrm>
              <a:off x="4727532" y="4381810"/>
              <a:ext cx="5918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Ni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2+/3+</a:t>
              </a: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09B9EF4-0810-C72E-26D6-607C8B0D31B6}"/>
                </a:ext>
              </a:extLst>
            </p:cNvPr>
            <p:cNvSpPr/>
            <p:nvPr/>
          </p:nvSpPr>
          <p:spPr>
            <a:xfrm>
              <a:off x="2412602" y="4959753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rgbClr val="FF7E0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323309-97F5-CE54-B422-0565041D6C11}"/>
                </a:ext>
              </a:extLst>
            </p:cNvPr>
            <p:cNvSpPr txBox="1"/>
            <p:nvPr/>
          </p:nvSpPr>
          <p:spPr>
            <a:xfrm>
              <a:off x="4727532" y="4925822"/>
              <a:ext cx="6270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FC772A56-EF90-1903-55D8-6C1850DA8168}"/>
                </a:ext>
              </a:extLst>
            </p:cNvPr>
            <p:cNvSpPr/>
            <p:nvPr/>
          </p:nvSpPr>
          <p:spPr>
            <a:xfrm>
              <a:off x="930756" y="4572000"/>
              <a:ext cx="2940536" cy="2846842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DCF7D7-A962-0B83-64A7-69B991D2D49F}"/>
                </a:ext>
              </a:extLst>
            </p:cNvPr>
            <p:cNvSpPr txBox="1"/>
            <p:nvPr/>
          </p:nvSpPr>
          <p:spPr>
            <a:xfrm>
              <a:off x="3840249" y="565003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O: 2p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E771424-0517-ABDE-BF04-E97555BF0E2A}"/>
                </a:ext>
              </a:extLst>
            </p:cNvPr>
            <p:cNvCxnSpPr/>
            <p:nvPr/>
          </p:nvCxnSpPr>
          <p:spPr>
            <a:xfrm>
              <a:off x="2288166" y="2430153"/>
              <a:ext cx="0" cy="43983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DB7704-DBB0-0828-31BE-AA82799706C0}"/>
                </a:ext>
              </a:extLst>
            </p:cNvPr>
            <p:cNvCxnSpPr>
              <a:cxnSpLocks/>
            </p:cNvCxnSpPr>
            <p:nvPr/>
          </p:nvCxnSpPr>
          <p:spPr>
            <a:xfrm>
              <a:off x="2288166" y="2869991"/>
              <a:ext cx="101283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A97EC2-93F5-84BB-B7C7-DDAA00059DC2}"/>
                </a:ext>
              </a:extLst>
            </p:cNvPr>
            <p:cNvCxnSpPr>
              <a:cxnSpLocks/>
            </p:cNvCxnSpPr>
            <p:nvPr/>
          </p:nvCxnSpPr>
          <p:spPr>
            <a:xfrm>
              <a:off x="2070462" y="3543251"/>
              <a:ext cx="330562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B76269D-37F1-A934-D79C-C5A0EF0EADCC}"/>
                </a:ext>
              </a:extLst>
            </p:cNvPr>
            <p:cNvCxnSpPr>
              <a:cxnSpLocks/>
            </p:cNvCxnSpPr>
            <p:nvPr/>
          </p:nvCxnSpPr>
          <p:spPr>
            <a:xfrm>
              <a:off x="1864333" y="4181788"/>
              <a:ext cx="53669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C6613E-FDCB-C55E-CF84-F42F44346537}"/>
                </a:ext>
              </a:extLst>
            </p:cNvPr>
            <p:cNvCxnSpPr>
              <a:cxnSpLocks/>
            </p:cNvCxnSpPr>
            <p:nvPr/>
          </p:nvCxnSpPr>
          <p:spPr>
            <a:xfrm>
              <a:off x="1660244" y="4543062"/>
              <a:ext cx="74078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FFAB37B-B978-AC3C-A547-BB5866FE4D0D}"/>
                </a:ext>
              </a:extLst>
            </p:cNvPr>
            <p:cNvCxnSpPr>
              <a:cxnSpLocks/>
            </p:cNvCxnSpPr>
            <p:nvPr/>
          </p:nvCxnSpPr>
          <p:spPr>
            <a:xfrm>
              <a:off x="1451809" y="5077426"/>
              <a:ext cx="949215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B2DA625-8CFA-F2E7-0D47-7C6F3DEADA80}"/>
                </a:ext>
              </a:extLst>
            </p:cNvPr>
            <p:cNvCxnSpPr>
              <a:cxnSpLocks/>
            </p:cNvCxnSpPr>
            <p:nvPr/>
          </p:nvCxnSpPr>
          <p:spPr>
            <a:xfrm>
              <a:off x="2070462" y="2436999"/>
              <a:ext cx="0" cy="108802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D11AD8B-67B9-20EC-54F7-8C677B782911}"/>
                </a:ext>
              </a:extLst>
            </p:cNvPr>
            <p:cNvSpPr txBox="1"/>
            <p:nvPr/>
          </p:nvSpPr>
          <p:spPr>
            <a:xfrm rot="5400000">
              <a:off x="1894094" y="2517704"/>
              <a:ext cx="5888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1.2 eV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CFB80B-FA34-47A6-0E05-9F2B6136ED4C}"/>
                </a:ext>
              </a:extLst>
            </p:cNvPr>
            <p:cNvSpPr txBox="1"/>
            <p:nvPr/>
          </p:nvSpPr>
          <p:spPr>
            <a:xfrm rot="5400000">
              <a:off x="1693691" y="2842573"/>
              <a:ext cx="5568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2.4eV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352E51F-FA52-C946-808D-D3D2C3171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6751" y="2430154"/>
              <a:ext cx="7582" cy="175163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5107556-B8A2-D8B2-63D9-26B316A300E6}"/>
                </a:ext>
              </a:extLst>
            </p:cNvPr>
            <p:cNvSpPr txBox="1"/>
            <p:nvPr/>
          </p:nvSpPr>
          <p:spPr>
            <a:xfrm rot="5400000">
              <a:off x="1471532" y="3171395"/>
              <a:ext cx="58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3.1 eV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1973CDE-049B-BB4E-F482-389C768ABAD9}"/>
                </a:ext>
              </a:extLst>
            </p:cNvPr>
            <p:cNvCxnSpPr>
              <a:cxnSpLocks/>
            </p:cNvCxnSpPr>
            <p:nvPr/>
          </p:nvCxnSpPr>
          <p:spPr>
            <a:xfrm>
              <a:off x="1658201" y="2430154"/>
              <a:ext cx="0" cy="211290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2D561F0-4C73-29A1-1D37-74115C9612F3}"/>
                </a:ext>
              </a:extLst>
            </p:cNvPr>
            <p:cNvSpPr txBox="1"/>
            <p:nvPr/>
          </p:nvSpPr>
          <p:spPr>
            <a:xfrm rot="5400000">
              <a:off x="1265400" y="3426039"/>
              <a:ext cx="58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3.3 eV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B5CBFE9-6023-266A-C0FD-C445E7A63438}"/>
                </a:ext>
              </a:extLst>
            </p:cNvPr>
            <p:cNvCxnSpPr>
              <a:cxnSpLocks/>
            </p:cNvCxnSpPr>
            <p:nvPr/>
          </p:nvCxnSpPr>
          <p:spPr>
            <a:xfrm>
              <a:off x="1451809" y="2430154"/>
              <a:ext cx="0" cy="264727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2D1B8EC-5CFA-73B9-A79B-D2A4C7064887}"/>
                </a:ext>
              </a:extLst>
            </p:cNvPr>
            <p:cNvSpPr txBox="1"/>
            <p:nvPr/>
          </p:nvSpPr>
          <p:spPr>
            <a:xfrm rot="5400000">
              <a:off x="1059008" y="3657534"/>
              <a:ext cx="58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3.7 eV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33307E7-091B-7DBD-6EC0-3EAE116DE572}"/>
                </a:ext>
              </a:extLst>
            </p:cNvPr>
            <p:cNvSpPr txBox="1"/>
            <p:nvPr/>
          </p:nvSpPr>
          <p:spPr>
            <a:xfrm>
              <a:off x="4000592" y="2171822"/>
              <a:ext cx="1600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Na/Na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en-US" sz="1200" dirty="0"/>
                <a:t>Fermi energy</a:t>
              </a: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0F43F09-6CB3-9846-C306-F2CA1F69FFC8}"/>
                </a:ext>
              </a:extLst>
            </p:cNvPr>
            <p:cNvSpPr/>
            <p:nvPr/>
          </p:nvSpPr>
          <p:spPr>
            <a:xfrm>
              <a:off x="2414555" y="3136475"/>
              <a:ext cx="2314936" cy="243068"/>
            </a:xfrm>
            <a:custGeom>
              <a:avLst/>
              <a:gdLst>
                <a:gd name="csX0" fmla="*/ 0 w 2314936"/>
                <a:gd name="csY0" fmla="*/ 324091 h 324091"/>
                <a:gd name="csX1" fmla="*/ 2314936 w 2314936"/>
                <a:gd name="csY1" fmla="*/ 150470 h 324091"/>
                <a:gd name="csX2" fmla="*/ 0 w 2314936"/>
                <a:gd name="csY2" fmla="*/ 0 h 324091"/>
                <a:gd name="csX3" fmla="*/ 0 w 2314936"/>
                <a:gd name="csY3" fmla="*/ 0 h 3240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936" h="324091">
                  <a:moveTo>
                    <a:pt x="0" y="324091"/>
                  </a:moveTo>
                  <a:cubicBezTo>
                    <a:pt x="1157468" y="264288"/>
                    <a:pt x="2314936" y="204485"/>
                    <a:pt x="2314936" y="150470"/>
                  </a:cubicBezTo>
                  <a:cubicBezTo>
                    <a:pt x="2314936" y="96455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0273583-CA23-292C-5499-93A8EF4F4E3E}"/>
                </a:ext>
              </a:extLst>
            </p:cNvPr>
            <p:cNvSpPr txBox="1"/>
            <p:nvPr/>
          </p:nvSpPr>
          <p:spPr>
            <a:xfrm>
              <a:off x="4692807" y="3103072"/>
              <a:ext cx="1311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(Mn, Fe, Co)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2+/3+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893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edox band schematic"/>
          <p:cNvGrpSpPr/>
          <p:nvPr/>
        </p:nvGrpSpPr>
        <p:grpSpPr>
          <a:xfrm>
            <a:off x="365760" y="1097280"/>
            <a:ext cx="6126480" cy="6464808"/>
            <a:chOff x="365760" y="1097280"/>
            <a:chExt cx="6126480" cy="6464808"/>
          </a:xfrm>
        </p:grpSpPr>
        <p:sp>
          <p:nvSpPr>
            <p:cNvPr id="2" name="O 2p band (fill)"/>
            <p:cNvSpPr/>
            <p:nvPr/>
          </p:nvSpPr>
          <p:spPr>
            <a:xfrm>
              <a:off x="2468880" y="5924398"/>
              <a:ext cx="2057400" cy="1070762"/>
            </a:xfrm>
            <a:custGeom>
              <a:avLst/>
              <a:gdLst/>
              <a:ahLst/>
              <a:cxnLst/>
              <a:rect l="l" t="t" r="r" b="b"/>
              <a:pathLst>
                <a:path w="2057400" h="1070762">
                  <a:moveTo>
                    <a:pt x="0" y="0"/>
                  </a:moveTo>
                  <a:cubicBezTo>
                    <a:pt x="1136271" y="0"/>
                    <a:pt x="2057400" y="479397"/>
                    <a:pt x="2057400" y="1070762"/>
                  </a:cubicBezTo>
                  <a:lnTo>
                    <a:pt x="0" y="1070762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" name="O 2p band (edge)"/>
            <p:cNvSpPr/>
            <p:nvPr/>
          </p:nvSpPr>
          <p:spPr>
            <a:xfrm>
              <a:off x="2468880" y="5924398"/>
              <a:ext cx="2057400" cy="1070762"/>
            </a:xfrm>
            <a:custGeom>
              <a:avLst/>
              <a:gdLst/>
              <a:ahLst/>
              <a:cxnLst/>
              <a:rect l="l" t="t" r="r" b="b"/>
              <a:pathLst>
                <a:path w="2057400" h="1070762" fill="none">
                  <a:moveTo>
                    <a:pt x="0" y="0"/>
                  </a:moveTo>
                  <a:cubicBezTo>
                    <a:pt x="1136271" y="0"/>
                    <a:pt x="2057400" y="479397"/>
                    <a:pt x="2057400" y="1070762"/>
                  </a:cubicBezTo>
                </a:path>
              </a:pathLst>
            </a:custGeom>
            <a:noFill/>
            <a:ln w="2032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TM 4s band (edge)"/>
            <p:cNvSpPr/>
            <p:nvPr/>
          </p:nvSpPr>
          <p:spPr>
            <a:xfrm>
              <a:off x="2468880" y="1344168"/>
              <a:ext cx="1325880" cy="749808"/>
            </a:xfrm>
            <a:custGeom>
              <a:avLst/>
              <a:gdLst/>
              <a:ahLst/>
              <a:cxnLst/>
              <a:rect l="l" t="t" r="r" b="b"/>
              <a:pathLst>
                <a:path w="1325880" h="749808" fill="none">
                  <a:moveTo>
                    <a:pt x="0" y="749808"/>
                  </a:moveTo>
                  <a:cubicBezTo>
                    <a:pt x="732263" y="749808"/>
                    <a:pt x="1325880" y="414108"/>
                    <a:pt x="1325880" y="0"/>
                  </a:cubicBezTo>
                </a:path>
              </a:pathLst>
            </a:custGeom>
            <a:noFill/>
            <a:ln w="2032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5" name="Fermi level of Na metal"/>
            <p:cNvCxnSpPr/>
            <p:nvPr/>
          </p:nvCxnSpPr>
          <p:spPr>
            <a:xfrm>
              <a:off x="722376" y="2093976"/>
              <a:ext cx="5660136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dash"/>
              <a:round/>
            </a:ln>
          </p:spPr>
        </p:cxnSp>
        <p:cxnSp>
          <p:nvCxnSpPr>
            <p:cNvPr id="6" name="Leader Ti3+/4+"/>
            <p:cNvCxnSpPr/>
            <p:nvPr/>
          </p:nvCxnSpPr>
          <p:spPr>
            <a:xfrm>
              <a:off x="2185416" y="3354115"/>
              <a:ext cx="283464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cxnSp>
          <p:nvCxnSpPr>
            <p:cNvPr id="7" name="Leader (Mn, Fe, Co)2+/3+"/>
            <p:cNvCxnSpPr/>
            <p:nvPr/>
          </p:nvCxnSpPr>
          <p:spPr>
            <a:xfrm>
              <a:off x="1901952" y="4459905"/>
              <a:ext cx="566928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cxnSp>
          <p:nvCxnSpPr>
            <p:cNvPr id="8" name="Leader Mn3+/4+"/>
            <p:cNvCxnSpPr/>
            <p:nvPr/>
          </p:nvCxnSpPr>
          <p:spPr>
            <a:xfrm>
              <a:off x="1618488" y="4791506"/>
              <a:ext cx="850392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cxnSp>
          <p:nvCxnSpPr>
            <p:cNvPr id="9" name="Leader Co3+/4+"/>
            <p:cNvCxnSpPr/>
            <p:nvPr/>
          </p:nvCxnSpPr>
          <p:spPr>
            <a:xfrm>
              <a:off x="1335024" y="5425282"/>
              <a:ext cx="1133856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cxnSp>
          <p:nvCxnSpPr>
            <p:cNvPr id="10" name="Leader Ni2+/3+"/>
            <p:cNvCxnSpPr/>
            <p:nvPr/>
          </p:nvCxnSpPr>
          <p:spPr>
            <a:xfrm>
              <a:off x="1051560" y="5777834"/>
              <a:ext cx="1417320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cxnSp>
          <p:nvCxnSpPr>
            <p:cNvPr id="11" name="Leader Fe3+/4+"/>
            <p:cNvCxnSpPr/>
            <p:nvPr/>
          </p:nvCxnSpPr>
          <p:spPr>
            <a:xfrm>
              <a:off x="768096" y="6072789"/>
              <a:ext cx="1700784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round/>
            </a:ln>
          </p:spPr>
        </p:cxnSp>
        <p:sp>
          <p:nvSpPr>
            <p:cNvPr id="12" name="Band Ti3+/4+"/>
            <p:cNvSpPr/>
            <p:nvPr/>
          </p:nvSpPr>
          <p:spPr>
            <a:xfrm>
              <a:off x="2468880" y="3244387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8C564B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Band (Mn, Fe, Co)2+/3+"/>
            <p:cNvSpPr/>
            <p:nvPr/>
          </p:nvSpPr>
          <p:spPr>
            <a:xfrm>
              <a:off x="2468880" y="4350177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A6A6A6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Band Mn3+/4+"/>
            <p:cNvSpPr/>
            <p:nvPr/>
          </p:nvSpPr>
          <p:spPr>
            <a:xfrm>
              <a:off x="2468880" y="4681778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9467BD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Band Co3+/4+"/>
            <p:cNvSpPr/>
            <p:nvPr/>
          </p:nvSpPr>
          <p:spPr>
            <a:xfrm>
              <a:off x="2468880" y="5315554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E377C2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Band Ni2+/3+"/>
            <p:cNvSpPr/>
            <p:nvPr/>
          </p:nvSpPr>
          <p:spPr>
            <a:xfrm>
              <a:off x="2468880" y="5668106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2CA02C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Band Fe3+/4+"/>
            <p:cNvSpPr/>
            <p:nvPr/>
          </p:nvSpPr>
          <p:spPr>
            <a:xfrm>
              <a:off x="2468880" y="5963061"/>
              <a:ext cx="2103120" cy="219456"/>
            </a:xfrm>
            <a:custGeom>
              <a:avLst/>
              <a:gdLst/>
              <a:ahLst/>
              <a:cxnLst/>
              <a:rect l="l" t="t" r="r" b="b"/>
              <a:pathLst>
                <a:path w="2103120" h="219456">
                  <a:moveTo>
                    <a:pt x="0" y="0"/>
                  </a:moveTo>
                  <a:cubicBezTo>
                    <a:pt x="1156716" y="24140"/>
                    <a:pt x="2103120" y="72420"/>
                    <a:pt x="2103120" y="109728"/>
                  </a:cubicBezTo>
                  <a:cubicBezTo>
                    <a:pt x="2103120" y="147036"/>
                    <a:pt x="1156716" y="195316"/>
                    <a:pt x="0" y="219456"/>
                  </a:cubicBezTo>
                  <a:close/>
                </a:path>
              </a:pathLst>
            </a:custGeom>
            <a:solidFill>
              <a:srgbClr val="FF7F0E"/>
            </a:solidFill>
            <a:ln w="15240" cap="rnd">
              <a:solidFill>
                <a:srgbClr val="000000"/>
              </a:solidFill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8" name="Depth 1.2 eV (Ti3+/4+)"/>
            <p:cNvCxnSpPr/>
            <p:nvPr/>
          </p:nvCxnSpPr>
          <p:spPr>
            <a:xfrm>
              <a:off x="2185416" y="2093976"/>
              <a:ext cx="0" cy="1260139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19" name="Depth 2.2 eV ((Mn, Fe, Co)2+/3+)"/>
            <p:cNvCxnSpPr/>
            <p:nvPr/>
          </p:nvCxnSpPr>
          <p:spPr>
            <a:xfrm>
              <a:off x="1901952" y="2093976"/>
              <a:ext cx="0" cy="2365929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0" name="Depth 2.5 eV (Mn3+/4+)"/>
            <p:cNvCxnSpPr/>
            <p:nvPr/>
          </p:nvCxnSpPr>
          <p:spPr>
            <a:xfrm>
              <a:off x="1618488" y="2093976"/>
              <a:ext cx="0" cy="2697530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1" name="Depth 3.1 eV (Co3+/4+)"/>
            <p:cNvCxnSpPr/>
            <p:nvPr/>
          </p:nvCxnSpPr>
          <p:spPr>
            <a:xfrm>
              <a:off x="1335024" y="2093976"/>
              <a:ext cx="0" cy="3331306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2" name="Depth 3.4 eV (Ni2+/3+)"/>
            <p:cNvCxnSpPr/>
            <p:nvPr/>
          </p:nvCxnSpPr>
          <p:spPr>
            <a:xfrm>
              <a:off x="1051560" y="2093976"/>
              <a:ext cx="0" cy="3683858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3" name="Depth 3.7 eV (Fe3+/4+)"/>
            <p:cNvCxnSpPr/>
            <p:nvPr/>
          </p:nvCxnSpPr>
          <p:spPr>
            <a:xfrm>
              <a:off x="768096" y="2093976"/>
              <a:ext cx="0" cy="3978813"/>
            </a:xfrm>
            <a:prstGeom prst="straightConnector1">
              <a:avLst/>
            </a:prstGeom>
            <a:ln w="1524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4" name="Energy axis"/>
            <p:cNvCxnSpPr/>
            <p:nvPr/>
          </p:nvCxnSpPr>
          <p:spPr>
            <a:xfrm flipV="1">
              <a:off x="2468880" y="1234440"/>
              <a:ext cx="0" cy="5760720"/>
            </a:xfrm>
            <a:prstGeom prst="straightConnector1">
              <a:avLst/>
            </a:prstGeom>
            <a:ln w="27940" cap="flat">
              <a:solidFill>
                <a:srgbClr val="000000"/>
              </a:solidFill>
              <a:round/>
              <a:tailEnd type="triangle" w="lg" len="lg"/>
            </a:ln>
          </p:spPr>
        </p:cxnSp>
        <p:cxnSp>
          <p:nvCxnSpPr>
            <p:cNvPr id="25" name="N(E) arrow"/>
            <p:cNvCxnSpPr/>
            <p:nvPr/>
          </p:nvCxnSpPr>
          <p:spPr>
            <a:xfrm>
              <a:off x="3291840" y="7269480"/>
              <a:ext cx="777240" cy="0"/>
            </a:xfrm>
            <a:prstGeom prst="straightConnector1">
              <a:avLst/>
            </a:prstGeom>
            <a:ln w="16510" cap="flat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6" name="Label E"/>
            <p:cNvSpPr txBox="1"/>
            <p:nvPr/>
          </p:nvSpPr>
          <p:spPr>
            <a:xfrm>
              <a:off x="2124837" y="1183005"/>
              <a:ext cx="243459" cy="2857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7" name="Label N(E)"/>
            <p:cNvSpPr txBox="1"/>
            <p:nvPr/>
          </p:nvSpPr>
          <p:spPr>
            <a:xfrm>
              <a:off x="2789301" y="7158355"/>
              <a:ext cx="456819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r"/>
              <a:r>
                <a:rPr 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28" name="Label TM 4s"/>
            <p:cNvSpPr txBox="1"/>
            <p:nvPr/>
          </p:nvSpPr>
          <p:spPr>
            <a:xfrm>
              <a:off x="3886200" y="1353121"/>
              <a:ext cx="744890" cy="23812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TM: 4s</a:t>
              </a:r>
              <a:r>
                <a:rPr lang="en-US" sz="15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9" name="Label O 2p"/>
            <p:cNvSpPr txBox="1"/>
            <p:nvPr/>
          </p:nvSpPr>
          <p:spPr>
            <a:xfrm>
              <a:off x="2651760" y="6492050"/>
              <a:ext cx="628685" cy="23812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O: 2p</a:t>
              </a:r>
              <a:r>
                <a:rPr lang="en-US" sz="15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" name="Label Na level"/>
            <p:cNvSpPr txBox="1"/>
            <p:nvPr/>
          </p:nvSpPr>
          <p:spPr>
            <a:xfrm>
              <a:off x="3951065" y="1817052"/>
              <a:ext cx="2477167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Fermi level of Na metal (Na/Na</a:t>
              </a:r>
              <a:r>
                <a:rPr lang="en-US" sz="13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31" name="Couple Ti3+/4+"/>
            <p:cNvSpPr txBox="1"/>
            <p:nvPr/>
          </p:nvSpPr>
          <p:spPr>
            <a:xfrm>
              <a:off x="4617720" y="3242990"/>
              <a:ext cx="542514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32" name="Value 1.2 eV (Ti3+/4+)"/>
            <p:cNvSpPr txBox="1"/>
            <p:nvPr/>
          </p:nvSpPr>
          <p:spPr>
            <a:xfrm rot="16200000">
              <a:off x="1759394" y="2620858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1.2 eV</a:t>
              </a:r>
            </a:p>
          </p:txBody>
        </p:sp>
        <p:sp>
          <p:nvSpPr>
            <p:cNvPr id="33" name="Couple (Mn, Fe, Co)2+/3+"/>
            <p:cNvSpPr txBox="1"/>
            <p:nvPr/>
          </p:nvSpPr>
          <p:spPr>
            <a:xfrm>
              <a:off x="4617720" y="4348780"/>
              <a:ext cx="1394273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(Mn, Fe, Co)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2+/3+</a:t>
              </a:r>
            </a:p>
          </p:txBody>
        </p:sp>
        <p:sp>
          <p:nvSpPr>
            <p:cNvPr id="34" name="Value 2.2 eV ((Mn, Fe, Co)2+/3+)"/>
            <p:cNvSpPr txBox="1"/>
            <p:nvPr/>
          </p:nvSpPr>
          <p:spPr>
            <a:xfrm rot="16200000">
              <a:off x="1475930" y="3173753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2.2 eV</a:t>
              </a:r>
            </a:p>
          </p:txBody>
        </p:sp>
        <p:sp>
          <p:nvSpPr>
            <p:cNvPr id="35" name="Couple Mn3+/4+"/>
            <p:cNvSpPr txBox="1"/>
            <p:nvPr/>
          </p:nvSpPr>
          <p:spPr>
            <a:xfrm>
              <a:off x="4617720" y="4680381"/>
              <a:ext cx="642179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Mn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36" name="Value 2.5 eV (Mn3+/4+)"/>
            <p:cNvSpPr txBox="1"/>
            <p:nvPr/>
          </p:nvSpPr>
          <p:spPr>
            <a:xfrm rot="16200000">
              <a:off x="1192466" y="3339554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2.5 eV</a:t>
              </a:r>
            </a:p>
          </p:txBody>
        </p:sp>
        <p:sp>
          <p:nvSpPr>
            <p:cNvPr id="37" name="Couple Co3+/4+"/>
            <p:cNvSpPr txBox="1"/>
            <p:nvPr/>
          </p:nvSpPr>
          <p:spPr>
            <a:xfrm>
              <a:off x="4617720" y="5314157"/>
              <a:ext cx="621732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38" name="Value 3.1 eV (Co3+/4+)"/>
            <p:cNvSpPr txBox="1"/>
            <p:nvPr/>
          </p:nvSpPr>
          <p:spPr>
            <a:xfrm rot="16200000">
              <a:off x="909002" y="3656442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3.1 eV</a:t>
              </a:r>
            </a:p>
          </p:txBody>
        </p:sp>
        <p:sp>
          <p:nvSpPr>
            <p:cNvPr id="39" name="Couple Ni2+/3+"/>
            <p:cNvSpPr txBox="1"/>
            <p:nvPr/>
          </p:nvSpPr>
          <p:spPr>
            <a:xfrm>
              <a:off x="4617720" y="5666709"/>
              <a:ext cx="562169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2+/3+</a:t>
              </a:r>
            </a:p>
          </p:txBody>
        </p:sp>
        <p:sp>
          <p:nvSpPr>
            <p:cNvPr id="40" name="Value 3.4 eV (Ni2+/3+)"/>
            <p:cNvSpPr txBox="1"/>
            <p:nvPr/>
          </p:nvSpPr>
          <p:spPr>
            <a:xfrm rot="16200000">
              <a:off x="625538" y="3832717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3.4 eV</a:t>
              </a:r>
            </a:p>
          </p:txBody>
        </p:sp>
        <p:sp>
          <p:nvSpPr>
            <p:cNvPr id="41" name="Couple Fe3+/4+"/>
            <p:cNvSpPr txBox="1"/>
            <p:nvPr/>
          </p:nvSpPr>
          <p:spPr>
            <a:xfrm>
              <a:off x="4617720" y="5961664"/>
              <a:ext cx="602174" cy="22225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sz="1400" baseline="30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3+/4+</a:t>
              </a:r>
            </a:p>
          </p:txBody>
        </p:sp>
        <p:sp>
          <p:nvSpPr>
            <p:cNvPr id="42" name="Value 3.7 eV (Fe3+/4+)"/>
            <p:cNvSpPr txBox="1"/>
            <p:nvPr/>
          </p:nvSpPr>
          <p:spPr>
            <a:xfrm rot="16200000">
              <a:off x="342074" y="3980195"/>
              <a:ext cx="568579" cy="206375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3.7 eV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417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1154</TotalTime>
  <Words>122</Words>
  <Application>Microsoft Macintosh PowerPoint</Application>
  <PresentationFormat>Letter Paper (8.5x11 in)</PresentationFormat>
  <Paragraphs>35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61</cp:revision>
  <dcterms:created xsi:type="dcterms:W3CDTF">2026-06-24T23:02:47Z</dcterms:created>
  <dcterms:modified xsi:type="dcterms:W3CDTF">2026-09-28T19:45:57Z</dcterms:modified>
</cp:coreProperties>
</file>